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Calibri"/>
              </a:defRPr>
            </a:pPr>
            <a:r>
              <a:t>Churn Intelligence: Кого удерживать и как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144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ADCFF"/>
                </a:solidFill>
                <a:latin typeface="Calibri"/>
              </a:defRPr>
            </a:pPr>
            <a:r>
              <a:t>Freedom 2026 Hackathon | Churn Prediction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5FF"/>
                </a:solidFill>
                <a:latin typeface="Calibri"/>
              </a:defRPr>
            </a:pPr>
            <a:r>
              <a:t>• Мы решаем не только 'кто уйдет', а 'на кого стоит тратить retention-бюджет'.</a:t>
            </a:r>
          </a:p>
          <a:p>
            <a:pPr>
              <a:spcAft>
                <a:spcPts val="800"/>
              </a:spcAft>
              <a:defRPr sz="1600">
                <a:solidFill>
                  <a:srgbClr val="F0F5FF"/>
                </a:solidFill>
                <a:latin typeface="Calibri"/>
              </a:defRPr>
            </a:pPr>
            <a:r>
              <a:t>• Модель: CatBoost + поведенческие признаки + explainability (SHAP).</a:t>
            </a:r>
          </a:p>
          <a:p>
            <a:pPr>
              <a:spcAft>
                <a:spcPts val="800"/>
              </a:spcAft>
              <a:defRPr sz="1600">
                <a:solidFill>
                  <a:srgbClr val="F0F5FF"/>
                </a:solidFill>
                <a:latin typeface="Calibri"/>
              </a:defRPr>
            </a:pPr>
            <a:r>
              <a:t>• Выход: 4 action-сегмента для CRM (Persuadables / Sure Things / Sleeping Dogs / Lost Causes).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0"/>
            <a:ext cx="1737360" cy="1097280"/>
          </a:xfrm>
          <a:prstGeom prst="rect">
            <a:avLst/>
          </a:prstGeom>
          <a:solidFill>
            <a:srgbClr val="1E3455"/>
          </a:solidFill>
          <a:ln>
            <a:solidFill>
              <a:srgbClr val="38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6732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8CD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78224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0.8086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3657600"/>
            <a:ext cx="1737360" cy="1097280"/>
          </a:xfrm>
          <a:prstGeom prst="rect">
            <a:avLst/>
          </a:prstGeom>
          <a:solidFill>
            <a:srgbClr val="1E3455"/>
          </a:solidFill>
          <a:ln>
            <a:solidFill>
              <a:srgbClr val="38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76732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8CD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078224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0.6538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657600"/>
            <a:ext cx="1737360" cy="1097280"/>
          </a:xfrm>
          <a:prstGeom prst="rect">
            <a:avLst/>
          </a:prstGeom>
          <a:solidFill>
            <a:srgbClr val="1E3455"/>
          </a:solidFill>
          <a:ln>
            <a:solidFill>
              <a:srgbClr val="38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8CD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78224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0.5555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657600"/>
            <a:ext cx="1737360" cy="1097280"/>
          </a:xfrm>
          <a:prstGeom prst="rect">
            <a:avLst/>
          </a:prstGeom>
          <a:solidFill>
            <a:srgbClr val="1E3455"/>
          </a:solidFill>
          <a:ln>
            <a:solidFill>
              <a:srgbClr val="38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6732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8CD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78224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0.7942</a:t>
            </a:r>
          </a:p>
        </p:txBody>
      </p:sp>
      <p:pic>
        <p:nvPicPr>
          <p:cNvPr id="17" name="Picture 16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34440"/>
            <a:ext cx="4297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Calibri"/>
              </a:defRPr>
            </a:pPr>
            <a:r>
              <a:t>Как обучалась модель и что она увидела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0350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• Данные: feature_store + events + transactions + acquisition + pLTV.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• Label churn: нет активности 30+ дней.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• Feature engineering: тренды активности, error/failed rates, product depth, digital ratio.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• Контроль качества: дедупликация по user_id и clean merge без row explosion.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6035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Ключевой инсайт:</a:t>
            </a:r>
          </a:p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Поведение внутри приложения влияет сильнее, чем канал привлечения.</a:t>
            </a:r>
          </a:p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is_paid_channel слабее, чем event/transaction динамика.</a:t>
            </a:r>
          </a:p>
        </p:txBody>
      </p:sp>
      <p:pic>
        <p:nvPicPr>
          <p:cNvPr id="5" name="Picture 4" descr="feature_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50292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Calibri"/>
              </a:defRPr>
            </a:pPr>
            <a:r>
              <a:t>Результат для бизнеса: от модели к действиям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0350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Persuadables: персональный оффер/кэшбэк -&gt; приоритет retention-бюджета.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Sure Things: не тратим бюджет на удержание, делаем upsell.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Sleeping Dogs: no-contact policy, чтобы не спровоцировать уход.</a:t>
            </a:r>
          </a:p>
          <a:p>
            <a:pPr>
              <a:spcAft>
                <a:spcPts val="800"/>
              </a:spcAft>
              <a:defRPr sz="1400">
                <a:solidFill>
                  <a:srgbClr val="F0F5FF"/>
                </a:solidFill>
                <a:latin typeface="Calibri"/>
              </a:defRPr>
            </a:pPr>
            <a:r>
              <a:t>Lost Causes: минимальный бюджет, только feedback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6035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Почему решение сильное:</a:t>
            </a:r>
          </a:p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• Actionable, а не просто predictive.</a:t>
            </a:r>
          </a:p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• Explainable (SHAP) -&gt; понятно бизнесу.</a:t>
            </a:r>
          </a:p>
          <a:p>
            <a:pPr>
              <a:spcAft>
                <a:spcPts val="800"/>
              </a:spcAft>
              <a:defRPr sz="1500">
                <a:solidFill>
                  <a:srgbClr val="F0F5FF"/>
                </a:solidFill>
                <a:latin typeface="Calibri"/>
              </a:defRPr>
            </a:pPr>
            <a:r>
              <a:t>• Готово к запуску: dashboard + user-level scoring для CRM.</a:t>
            </a:r>
          </a:p>
        </p:txBody>
      </p:sp>
      <p:pic>
        <p:nvPicPr>
          <p:cNvPr id="5" name="Picture 4" descr="kp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097280"/>
            <a:ext cx="4846320" cy="2468880"/>
          </a:xfrm>
          <a:prstGeom prst="rect">
            <a:avLst/>
          </a:prstGeom>
        </p:spPr>
      </p:pic>
      <p:pic>
        <p:nvPicPr>
          <p:cNvPr id="6" name="Picture 5" descr="dashboard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703320"/>
            <a:ext cx="4846320" cy="246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